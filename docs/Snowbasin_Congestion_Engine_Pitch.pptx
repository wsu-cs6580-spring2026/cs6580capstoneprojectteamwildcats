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4b2682"/>
            </a:solidFill>
            <a:ln w="25560">
              <a:solidFill>
                <a:srgbClr val="4b2682"/>
              </a:solidFill>
              <a:round/>
            </a:ln>
          </c:spPr>
          <c:marker>
            <c:symbol val="circle"/>
            <c:size val="6"/>
            <c:spPr>
              <a:solidFill>
                <a:srgbClr val="4b2682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T-72h</c:v>
                </c:pt>
                <c:pt idx="1">
                  <c:v>T-48h</c:v>
                </c:pt>
                <c:pt idx="2">
                  <c:v>T-24h</c:v>
                </c:pt>
                <c:pt idx="3">
                  <c:v>Event Day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980</c:v>
                </c:pt>
                <c:pt idx="1">
                  <c:v>1100</c:v>
                </c:pt>
                <c:pt idx="2">
                  <c:v>1240</c:v>
                </c:pt>
                <c:pt idx="3">
                  <c:v>1180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81271569"/>
        <c:axId val="80828524"/>
      </c:lineChart>
      <c:catAx>
        <c:axId val="8127156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b7280"/>
                </a:solidFill>
                <a:uFillTx/>
                <a:latin typeface="Arial"/>
              </a:defRPr>
            </a:pPr>
          </a:p>
        </c:txPr>
        <c:crossAx val="80828524"/>
        <c:crosses val="autoZero"/>
        <c:auto val="1"/>
        <c:lblAlgn val="ctr"/>
        <c:lblOffset val="100"/>
        <c:noMultiLvlLbl val="0"/>
      </c:catAx>
      <c:valAx>
        <c:axId val="80828524"/>
        <c:scaling>
          <c:orientation val="minMax"/>
          <c:max val="1600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b7280"/>
                </a:solidFill>
                <a:uFillTx/>
                <a:latin typeface="Arial"/>
              </a:defRPr>
            </a:pPr>
          </a:p>
        </c:txPr>
        <c:crossAx val="81271569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32D7168-5B24-456A-BAA0-6961A6FE1D4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https://www.snowbasin.com/azure/snowbasin/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media/siteassets/images/scenic/winter/scenic-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winter-strawberry-groomer-valley-view.jpg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(background photo)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https://upload.wikimedia.org/wikipedia/en/thum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b/8/8e/Weber_State_University_logo.svg/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960px-Weber_State_University_logo.svg.png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(WSU logo)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3DE949-CF69-422E-8791-9A487AFC4B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https://www.skiutah.com/resorts/webcams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(webcam image source used for the example)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69AD7C-08D2-4D73-8778-1B2EDC1EF2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https://connect.udot.utah.gov/business/traffic-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data/traffic-statistics/ (CCS hourly volumes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availability)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https://www.ncei.noaa.gov/products/land-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based-station/local-climatological-data (NOAA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Local Climatological Data overview)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https://www.ncdc.noaa.gov/cdo-web/webservic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es/v2 (NOAA Climate Data Online API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documentation)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https://transportationtechnology.utah.gov/wp-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content/uploads/2022/09/UDOT_-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Transportation-Tech-CMYK_Blue-2-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1280x494.png (UDOT logo)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https://oceanservice.noaa.gov/facts/noaa-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emblem-rgb-2022.png (NOAA emblem)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0F5BE5-CCF5-47CF-8186-40CC2C68C2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https://connect.udot.utah.gov/business/traffic-data/traffic-statistics/ (traffic counts data source)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https://www.ncei.noaa.gov/products/land-based-station/local-climatological-data (NOAA LCD data source)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EB1248-CB4D-4C3B-BBB9-94C94D8219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Chart values are illustrative mock data (for UI concept only).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4B7BC2-91AC-4799-B743-BF9439B0FA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67A0EF-370C-43F5-B6A5-BD58780594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C33892-1C60-45C7-ACEC-46947166D1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/mnt/data/snowbasin_bg.jpg"/>
          <p:cNvPicPr/>
          <p:nvPr/>
        </p:nvPicPr>
        <p:blipFill>
          <a:blip r:embed="rId1"/>
          <a:srcRect l="0" t="7432" r="0" b="7432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731520" y="123444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Snowbasin “Congestion Engine”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749880" y="205740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e5e7eb"/>
                </a:solidFill>
                <a:effectLst/>
                <a:uFillTx/>
                <a:latin typeface="Aptos"/>
                <a:ea typeface="Aptos"/>
              </a:rPr>
              <a:t>Predict Trappers Loop (SR-167) peak arrivals 72 hours ahead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3"/>
          <p:cNvSpPr/>
          <p:nvPr/>
        </p:nvSpPr>
        <p:spPr>
          <a:xfrm>
            <a:off x="731520" y="5257800"/>
            <a:ext cx="6766200" cy="959760"/>
          </a:xfrm>
          <a:prstGeom prst="roundRect">
            <a:avLst>
              <a:gd name="adj" fmla="val 16667"/>
            </a:avLst>
          </a:prstGeom>
          <a:solidFill>
            <a:srgbClr val="111827">
              <a:alpha val="82000"/>
            </a:srgbClr>
          </a:solidFill>
          <a:ln w="12700">
            <a:solidFill>
              <a:srgbClr val="11182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1005840" y="5532120"/>
            <a:ext cx="6309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The Wildcats - Dani Lopez, Hazem Dawahi, Roberto Camposeco, Kevin Bell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1005840" y="5879520"/>
            <a:ext cx="6309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d1d5db"/>
                </a:solidFill>
                <a:effectLst/>
                <a:uFillTx/>
                <a:latin typeface="Aptos"/>
                <a:ea typeface="Aptos"/>
              </a:rPr>
              <a:t>CS-6580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Image 1" descr="/mnt/data/wsu_logo.png"/>
          <p:cNvPicPr/>
          <p:nvPr/>
        </p:nvPicPr>
        <p:blipFill>
          <a:blip r:embed="rId2"/>
          <a:stretch/>
        </p:blipFill>
        <p:spPr>
          <a:xfrm>
            <a:off x="9692640" y="5670000"/>
            <a:ext cx="2285640" cy="537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12191400" cy="685440"/>
          </a:xfrm>
          <a:prstGeom prst="rect">
            <a:avLst/>
          </a:prstGeom>
          <a:solidFill>
            <a:srgbClr val="4b2682"/>
          </a:solidFill>
          <a:ln w="12700">
            <a:solidFill>
              <a:srgbClr val="4b26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594360" y="15552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The problem → a decision Snowbasin can act 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685800" y="1051560"/>
            <a:ext cx="6400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If we can forecast morning arrivals (7–9 AM) 72 hours ahead, operations can: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3"/>
          <p:cNvSpPr/>
          <p:nvPr/>
        </p:nvSpPr>
        <p:spPr>
          <a:xfrm>
            <a:off x="868680" y="1600200"/>
            <a:ext cx="63090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Adjust staffing levels for lifts, rentals, food, and guest services. Activate overflow parking / traffic control before queues form. Send guests arrival recommendations (earlier/later, alternate routes)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4"/>
          <p:cNvSpPr/>
          <p:nvPr/>
        </p:nvSpPr>
        <p:spPr>
          <a:xfrm>
            <a:off x="685800" y="3246120"/>
            <a:ext cx="2102760" cy="38376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eef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5"/>
          <p:cNvSpPr/>
          <p:nvPr/>
        </p:nvSpPr>
        <p:spPr>
          <a:xfrm>
            <a:off x="685800" y="331920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d4ed8"/>
                </a:solidFill>
                <a:effectLst/>
                <a:uFillTx/>
                <a:latin typeface="Aptos"/>
                <a:ea typeface="Aptos"/>
              </a:rPr>
              <a:t>Guest Experience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6"/>
          <p:cNvSpPr/>
          <p:nvPr/>
        </p:nvSpPr>
        <p:spPr>
          <a:xfrm>
            <a:off x="2880360" y="3246120"/>
            <a:ext cx="1737000" cy="38376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ecf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7"/>
          <p:cNvSpPr/>
          <p:nvPr/>
        </p:nvSpPr>
        <p:spPr>
          <a:xfrm>
            <a:off x="2880360" y="331920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47857"/>
                </a:solidFill>
                <a:effectLst/>
                <a:uFillTx/>
                <a:latin typeface="Aptos"/>
                <a:ea typeface="Aptos"/>
              </a:rPr>
              <a:t>Safety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8"/>
          <p:cNvSpPr/>
          <p:nvPr/>
        </p:nvSpPr>
        <p:spPr>
          <a:xfrm>
            <a:off x="4709160" y="3246120"/>
            <a:ext cx="2331360" cy="383760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12700">
            <a:solidFill>
              <a:srgbClr val="fff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9"/>
          <p:cNvSpPr/>
          <p:nvPr/>
        </p:nvSpPr>
        <p:spPr>
          <a:xfrm>
            <a:off x="4709160" y="3319200"/>
            <a:ext cx="2331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92400e"/>
                </a:solidFill>
                <a:effectLst/>
                <a:uFillTx/>
                <a:latin typeface="Aptos"/>
                <a:ea typeface="Aptos"/>
              </a:rPr>
              <a:t>Operational Cost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0"/>
          <p:cNvSpPr/>
          <p:nvPr/>
        </p:nvSpPr>
        <p:spPr>
          <a:xfrm>
            <a:off x="685800" y="3794760"/>
            <a:ext cx="6629040" cy="242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50760" dir="2700000" dist="18837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960120" y="39776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6b7280"/>
                </a:solidFill>
                <a:effectLst/>
                <a:uFillTx/>
                <a:latin typeface="Aptos Display"/>
                <a:ea typeface="Aptos Display"/>
              </a:rPr>
              <a:t>Stakeholder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2"/>
          <p:cNvSpPr/>
          <p:nvPr/>
        </p:nvSpPr>
        <p:spPr>
          <a:xfrm>
            <a:off x="960120" y="4224600"/>
            <a:ext cx="6217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Snowbasin Resort operations managers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3"/>
          <p:cNvSpPr/>
          <p:nvPr/>
        </p:nvSpPr>
        <p:spPr>
          <a:xfrm>
            <a:off x="960120" y="4636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6b7280"/>
                </a:solidFill>
                <a:effectLst/>
                <a:uFillTx/>
                <a:latin typeface="Aptos Display"/>
                <a:ea typeface="Aptos Display"/>
              </a:rPr>
              <a:t>Actionable output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4"/>
          <p:cNvSpPr/>
          <p:nvPr/>
        </p:nvSpPr>
        <p:spPr>
          <a:xfrm>
            <a:off x="960120" y="4892040"/>
            <a:ext cx="6309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Predicted peak-hour traffic volume + “High Congestion” flag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5"/>
          <p:cNvSpPr/>
          <p:nvPr/>
        </p:nvSpPr>
        <p:spPr>
          <a:xfrm>
            <a:off x="960120" y="5394960"/>
            <a:ext cx="6309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Forecast window: next 72 hours • Peak window: 7–9 AM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6"/>
          <p:cNvSpPr/>
          <p:nvPr/>
        </p:nvSpPr>
        <p:spPr>
          <a:xfrm>
            <a:off x="7635240" y="1051560"/>
            <a:ext cx="4388760" cy="5166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50760" dir="2700000" dist="18837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" name="Image 0" descr="/mnt/data/trappers_loop_cam.jpg"/>
          <p:cNvPicPr/>
          <p:nvPr/>
        </p:nvPicPr>
        <p:blipFill>
          <a:blip r:embed="rId1"/>
          <a:srcRect l="7832" t="0" r="7832" b="0"/>
          <a:stretch/>
        </p:blipFill>
        <p:spPr>
          <a:xfrm>
            <a:off x="7772400" y="1188720"/>
            <a:ext cx="4114440" cy="274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 17"/>
          <p:cNvSpPr/>
          <p:nvPr/>
        </p:nvSpPr>
        <p:spPr>
          <a:xfrm>
            <a:off x="7818120" y="4023360"/>
            <a:ext cx="4023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Trappers Loop (SR-167)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Traffic cam example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8"/>
          <p:cNvSpPr/>
          <p:nvPr/>
        </p:nvSpPr>
        <p:spPr>
          <a:xfrm>
            <a:off x="7818120" y="4645080"/>
            <a:ext cx="4023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We don’t need perfect precision to be useful - we need early warning + thresholds.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9"/>
          <p:cNvSpPr/>
          <p:nvPr/>
        </p:nvSpPr>
        <p:spPr>
          <a:xfrm>
            <a:off x="0" y="6702480"/>
            <a:ext cx="12191400" cy="1551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0"/>
          <p:cNvSpPr/>
          <p:nvPr/>
        </p:nvSpPr>
        <p:spPr>
          <a:xfrm>
            <a:off x="594360" y="6711840"/>
            <a:ext cx="109724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Aptos"/>
                <a:ea typeface="Aptos"/>
              </a:rPr>
              <a:t>CS-6580 Data Science Capstone • Weber State University • Spring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12191400" cy="685440"/>
          </a:xfrm>
          <a:prstGeom prst="rect">
            <a:avLst/>
          </a:prstGeom>
          <a:solidFill>
            <a:srgbClr val="4b2682"/>
          </a:solidFill>
          <a:ln w="12700">
            <a:solidFill>
              <a:srgbClr val="4b26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594360" y="15552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Feasibility: the data is public, joinable, and hourly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"/>
          <p:cNvSpPr/>
          <p:nvPr/>
        </p:nvSpPr>
        <p:spPr>
          <a:xfrm>
            <a:off x="685800" y="1097280"/>
            <a:ext cx="3611520" cy="2514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50760" dir="2700000" dist="18837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Image 0" descr="/mnt/data/udot_logo.png"/>
          <p:cNvPicPr/>
          <p:nvPr/>
        </p:nvPicPr>
        <p:blipFill>
          <a:blip r:embed="rId1"/>
          <a:stretch/>
        </p:blipFill>
        <p:spPr>
          <a:xfrm>
            <a:off x="914400" y="1550520"/>
            <a:ext cx="731160" cy="28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Text 3"/>
          <p:cNvSpPr/>
          <p:nvPr/>
        </p:nvSpPr>
        <p:spPr>
          <a:xfrm>
            <a:off x="1737360" y="129852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UDOT Traffic Counts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4"/>
          <p:cNvSpPr/>
          <p:nvPr/>
        </p:nvSpPr>
        <p:spPr>
          <a:xfrm>
            <a:off x="914400" y="1965960"/>
            <a:ext cx="31543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Aptos"/>
                <a:ea typeface="Aptos"/>
              </a:rPr>
              <a:t>Source: Continuous Count Stations (CCS)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Aptos"/>
                <a:ea typeface="Aptos"/>
              </a:rPr>
              <a:t>Format: CSV/Sheet export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Aptos"/>
                <a:ea typeface="Aptos"/>
              </a:rPr>
              <a:t>Granularity: hourly volumes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Aptos"/>
                <a:ea typeface="Aptos"/>
              </a:rPr>
              <a:t>Scale: ~8,760 rows / year / station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Aptos"/>
                <a:ea typeface="Aptos"/>
              </a:rPr>
              <a:t>Status: public download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5"/>
          <p:cNvSpPr/>
          <p:nvPr/>
        </p:nvSpPr>
        <p:spPr>
          <a:xfrm>
            <a:off x="4526280" y="1097280"/>
            <a:ext cx="3611520" cy="2514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50760" dir="2700000" dist="18837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Image 1" descr="/mnt/data/noaa_logo.png"/>
          <p:cNvPicPr/>
          <p:nvPr/>
        </p:nvPicPr>
        <p:blipFill>
          <a:blip r:embed="rId2"/>
          <a:stretch/>
        </p:blipFill>
        <p:spPr>
          <a:xfrm>
            <a:off x="4754880" y="1447920"/>
            <a:ext cx="731160" cy="48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Text 6"/>
          <p:cNvSpPr/>
          <p:nvPr/>
        </p:nvSpPr>
        <p:spPr>
          <a:xfrm>
            <a:off x="5577840" y="129852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NOAA Weather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7"/>
          <p:cNvSpPr/>
          <p:nvPr/>
        </p:nvSpPr>
        <p:spPr>
          <a:xfrm>
            <a:off x="4754880" y="1965960"/>
            <a:ext cx="31543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Aptos"/>
                <a:ea typeface="Aptos"/>
              </a:rPr>
              <a:t>Local Climatological Data (LCD)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Aptos"/>
                <a:ea typeface="Aptos"/>
              </a:rPr>
              <a:t>Format: CSV + API options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Aptos"/>
                <a:ea typeface="Aptos"/>
              </a:rPr>
              <a:t>Signals: snowfall, wind, visibility, temp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Aptos"/>
                <a:ea typeface="Aptos"/>
              </a:rPr>
              <a:t>Scale: multi-year hourly records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Aptos"/>
                <a:ea typeface="Aptos"/>
              </a:rPr>
              <a:t>Status: public (bulk + CDO API)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8"/>
          <p:cNvSpPr/>
          <p:nvPr/>
        </p:nvSpPr>
        <p:spPr>
          <a:xfrm>
            <a:off x="8366760" y="1097280"/>
            <a:ext cx="3611520" cy="2514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50760" dir="2700000" dist="18837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9"/>
          <p:cNvSpPr/>
          <p:nvPr/>
        </p:nvSpPr>
        <p:spPr>
          <a:xfrm>
            <a:off x="8602920" y="1187280"/>
            <a:ext cx="731160" cy="73116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c7d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0"/>
          <p:cNvSpPr/>
          <p:nvPr/>
        </p:nvSpPr>
        <p:spPr>
          <a:xfrm>
            <a:off x="8622720" y="1207440"/>
            <a:ext cx="676440" cy="164160"/>
          </a:xfrm>
          <a:prstGeom prst="rect">
            <a:avLst/>
          </a:prstGeom>
          <a:solidFill>
            <a:srgbClr val="4b2682"/>
          </a:solidFill>
          <a:ln w="12700">
            <a:solidFill>
              <a:srgbClr val="4b26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1"/>
          <p:cNvSpPr/>
          <p:nvPr/>
        </p:nvSpPr>
        <p:spPr>
          <a:xfrm>
            <a:off x="8759880" y="1499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2"/>
          <p:cNvSpPr/>
          <p:nvPr/>
        </p:nvSpPr>
        <p:spPr>
          <a:xfrm>
            <a:off x="9372600" y="1298520"/>
            <a:ext cx="2514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Holidays + WSU calendar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3"/>
          <p:cNvSpPr/>
          <p:nvPr/>
        </p:nvSpPr>
        <p:spPr>
          <a:xfrm>
            <a:off x="8595360" y="1965960"/>
            <a:ext cx="32000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Aptos"/>
                <a:ea typeface="Aptos"/>
              </a:rPr>
              <a:t>Format: small curated CSV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Aptos"/>
                <a:ea typeface="Aptos"/>
              </a:rPr>
              <a:t>Signals: weekends, MLK, Spring Break, etc.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Aptos"/>
                <a:ea typeface="Aptos"/>
              </a:rPr>
              <a:t>Scale: &lt; 100 rows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Aptos"/>
                <a:ea typeface="Aptos"/>
              </a:rPr>
              <a:t>Status: public calendar sources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4"/>
          <p:cNvSpPr/>
          <p:nvPr/>
        </p:nvSpPr>
        <p:spPr>
          <a:xfrm>
            <a:off x="685800" y="3886200"/>
            <a:ext cx="11292480" cy="228564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5"/>
          <p:cNvSpPr/>
          <p:nvPr/>
        </p:nvSpPr>
        <p:spPr>
          <a:xfrm>
            <a:off x="1005840" y="413316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Integration Strategy (the “Join”)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6"/>
          <p:cNvSpPr/>
          <p:nvPr/>
        </p:nvSpPr>
        <p:spPr>
          <a:xfrm>
            <a:off x="1005840" y="452628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5e7eb"/>
                </a:solidFill>
                <a:effectLst/>
                <a:uFillTx/>
                <a:latin typeface="Aptos"/>
                <a:ea typeface="Aptos"/>
              </a:rPr>
              <a:t>Join key: Timestamp (Date + Hour)  - Granularity: all sources are hourly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7"/>
          <p:cNvSpPr/>
          <p:nvPr/>
        </p:nvSpPr>
        <p:spPr>
          <a:xfrm>
            <a:off x="1005840" y="4983480"/>
            <a:ext cx="10789560" cy="868320"/>
          </a:xfrm>
          <a:prstGeom prst="roundRect">
            <a:avLst>
              <a:gd name="adj" fmla="val 1666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8"/>
          <p:cNvSpPr/>
          <p:nvPr/>
        </p:nvSpPr>
        <p:spPr>
          <a:xfrm>
            <a:off x="1234440" y="521208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Resulting feature table: one row per hour with traffic + weather + calendar indicators → model-ready dataset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9"/>
          <p:cNvSpPr/>
          <p:nvPr/>
        </p:nvSpPr>
        <p:spPr>
          <a:xfrm>
            <a:off x="0" y="6702480"/>
            <a:ext cx="12191400" cy="1551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0"/>
          <p:cNvSpPr/>
          <p:nvPr/>
        </p:nvSpPr>
        <p:spPr>
          <a:xfrm>
            <a:off x="594360" y="6711840"/>
            <a:ext cx="109724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Aptos"/>
                <a:ea typeface="Aptos"/>
              </a:rPr>
              <a:t>CS-6580 Data Science Capstone • Weber State University • Spring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0" y="0"/>
            <a:ext cx="12191400" cy="685440"/>
          </a:xfrm>
          <a:prstGeom prst="rect">
            <a:avLst/>
          </a:prstGeom>
          <a:solidFill>
            <a:srgbClr val="4b2682"/>
          </a:solidFill>
          <a:ln w="12700">
            <a:solidFill>
              <a:srgbClr val="4b26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594360" y="15552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How we’ll build it (simple first → better over time)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685800" y="1097280"/>
            <a:ext cx="5394600" cy="191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50760" dir="2700000" dist="18837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960120" y="129852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6b7280"/>
                </a:solidFill>
                <a:effectLst/>
                <a:uFillTx/>
                <a:latin typeface="Aptos Display"/>
                <a:ea typeface="Aptos Display"/>
              </a:rPr>
              <a:t>Target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960120" y="169020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Peak-hour traffic volume (7–9 AM)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960120" y="1965960"/>
            <a:ext cx="4845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374151"/>
                </a:solidFill>
                <a:effectLst/>
                <a:uFillTx/>
                <a:latin typeface="Aptos"/>
                <a:ea typeface="Aptos"/>
              </a:rPr>
              <a:t>Primary output: regression (continuous volume)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374151"/>
                </a:solidFill>
                <a:effectLst/>
                <a:uFillTx/>
                <a:latin typeface="Aptos"/>
                <a:ea typeface="Aptos"/>
              </a:rPr>
              <a:t>Secondary output: classifier (High vs Normal)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6"/>
          <p:cNvSpPr/>
          <p:nvPr/>
        </p:nvSpPr>
        <p:spPr>
          <a:xfrm>
            <a:off x="6400800" y="1097280"/>
            <a:ext cx="4891680" cy="3885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50760" dir="2700000" dist="18837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7"/>
          <p:cNvSpPr/>
          <p:nvPr/>
        </p:nvSpPr>
        <p:spPr>
          <a:xfrm>
            <a:off x="6675120" y="1298520"/>
            <a:ext cx="434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6b7280"/>
                </a:solidFill>
                <a:effectLst/>
                <a:uFillTx/>
                <a:latin typeface="Aptos Display"/>
                <a:ea typeface="Aptos Display"/>
              </a:rPr>
              <a:t>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8"/>
          <p:cNvSpPr/>
          <p:nvPr/>
        </p:nvSpPr>
        <p:spPr>
          <a:xfrm>
            <a:off x="6720840" y="1783080"/>
            <a:ext cx="4251600" cy="65808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6903720" y="1892880"/>
            <a:ext cx="3885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Ingest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UDOT + NOAA + Calendar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8709840" y="2532960"/>
            <a:ext cx="273960" cy="228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9ca3af"/>
          </a:solidFill>
          <a:ln w="12700">
            <a:solidFill>
              <a:srgbClr val="9ca3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1"/>
          <p:cNvSpPr/>
          <p:nvPr/>
        </p:nvSpPr>
        <p:spPr>
          <a:xfrm>
            <a:off x="6720840" y="2624400"/>
            <a:ext cx="4251600" cy="65808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6903720" y="2734200"/>
            <a:ext cx="3885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Clean + Align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(hourly join)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3"/>
          <p:cNvSpPr/>
          <p:nvPr/>
        </p:nvSpPr>
        <p:spPr>
          <a:xfrm>
            <a:off x="8709840" y="3374280"/>
            <a:ext cx="273960" cy="228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9ca3af"/>
          </a:solidFill>
          <a:ln w="12700">
            <a:solidFill>
              <a:srgbClr val="9ca3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4"/>
          <p:cNvSpPr/>
          <p:nvPr/>
        </p:nvSpPr>
        <p:spPr>
          <a:xfrm>
            <a:off x="6720840" y="3465720"/>
            <a:ext cx="4251600" cy="658080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5"/>
          <p:cNvSpPr/>
          <p:nvPr/>
        </p:nvSpPr>
        <p:spPr>
          <a:xfrm>
            <a:off x="6903720" y="3575160"/>
            <a:ext cx="3885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Model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(baseline → XGBoost)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6"/>
          <p:cNvSpPr/>
          <p:nvPr/>
        </p:nvSpPr>
        <p:spPr>
          <a:xfrm>
            <a:off x="8709840" y="4215240"/>
            <a:ext cx="273960" cy="228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9ca3af"/>
          </a:solidFill>
          <a:ln w="12700">
            <a:solidFill>
              <a:srgbClr val="9ca3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7"/>
          <p:cNvSpPr/>
          <p:nvPr/>
        </p:nvSpPr>
        <p:spPr>
          <a:xfrm>
            <a:off x="6720840" y="4306680"/>
            <a:ext cx="4251600" cy="658080"/>
          </a:xfrm>
          <a:prstGeom prst="roundRect">
            <a:avLst>
              <a:gd name="adj" fmla="val 16667"/>
            </a:avLst>
          </a:prstGeom>
          <a:solidFill>
            <a:srgbClr val="fdf2f8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8"/>
          <p:cNvSpPr/>
          <p:nvPr/>
        </p:nvSpPr>
        <p:spPr>
          <a:xfrm>
            <a:off x="6903720" y="4416480"/>
            <a:ext cx="3885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Serve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Dashboard / API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9"/>
          <p:cNvSpPr/>
          <p:nvPr/>
        </p:nvSpPr>
        <p:spPr>
          <a:xfrm>
            <a:off x="685800" y="3246120"/>
            <a:ext cx="5394600" cy="196560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0"/>
          <p:cNvSpPr/>
          <p:nvPr/>
        </p:nvSpPr>
        <p:spPr>
          <a:xfrm>
            <a:off x="960120" y="345636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Success metrics (for a “boss-level” view)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1"/>
          <p:cNvSpPr/>
          <p:nvPr/>
        </p:nvSpPr>
        <p:spPr>
          <a:xfrm>
            <a:off x="960120" y="3822120"/>
            <a:ext cx="48459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lang="en-US" sz="1300" b="0" u="none" strike="noStrike">
                <a:solidFill>
                  <a:srgbClr val="e5e7eb"/>
                </a:solidFill>
                <a:effectLst/>
                <a:uFillTx/>
                <a:latin typeface="Aptos"/>
                <a:ea typeface="Aptos"/>
              </a:rPr>
              <a:t>Regression: MAE on peak window + calibration of uncertainty. Classification: precision/recall on “High Congestion” days. Business: % of alerts that led to a useful action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2"/>
          <p:cNvSpPr/>
          <p:nvPr/>
        </p:nvSpPr>
        <p:spPr>
          <a:xfrm>
            <a:off x="0" y="6702480"/>
            <a:ext cx="12191400" cy="1551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3"/>
          <p:cNvSpPr/>
          <p:nvPr/>
        </p:nvSpPr>
        <p:spPr>
          <a:xfrm>
            <a:off x="594360" y="6711840"/>
            <a:ext cx="109724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Aptos"/>
                <a:ea typeface="Aptos"/>
              </a:rPr>
              <a:t>CS-6580 Data Science Capstone • Weber State University • Spring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0"/>
          <p:cNvSpPr/>
          <p:nvPr/>
        </p:nvSpPr>
        <p:spPr>
          <a:xfrm>
            <a:off x="0" y="0"/>
            <a:ext cx="12191400" cy="685440"/>
          </a:xfrm>
          <a:prstGeom prst="rect">
            <a:avLst/>
          </a:prstGeom>
          <a:solidFill>
            <a:srgbClr val="4b2682"/>
          </a:solidFill>
          <a:ln w="12700">
            <a:solidFill>
              <a:srgbClr val="4b26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594360" y="15552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MVP (localhost): a dashboard that triggers actions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685800" y="1051560"/>
            <a:ext cx="11292480" cy="5166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50760" dir="2700000" dist="18837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1371600" y="11430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Next 72 hours → predicted peak arrival (7–9 AM)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960120" y="160020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4b2682"/>
                </a:solidFill>
                <a:effectLst/>
                <a:uFillTx/>
                <a:latin typeface="Aptos Display"/>
                <a:ea typeface="Aptos Display"/>
              </a:rPr>
              <a:t>1,240 vehicles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5"/>
          <p:cNvSpPr/>
          <p:nvPr/>
        </p:nvSpPr>
        <p:spPr>
          <a:xfrm>
            <a:off x="960480" y="251460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±120 (model uncertainty)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6"/>
          <p:cNvSpPr/>
          <p:nvPr/>
        </p:nvSpPr>
        <p:spPr>
          <a:xfrm>
            <a:off x="4846320" y="1481400"/>
            <a:ext cx="3291480" cy="959760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12700">
            <a:solidFill>
              <a:srgbClr val="feca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7"/>
          <p:cNvSpPr/>
          <p:nvPr/>
        </p:nvSpPr>
        <p:spPr>
          <a:xfrm>
            <a:off x="5074920" y="1627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dc2626"/>
                </a:solidFill>
                <a:effectLst/>
                <a:uFillTx/>
                <a:latin typeface="Aptos Display"/>
                <a:ea typeface="Aptos Display"/>
              </a:rPr>
              <a:t>ALERT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8"/>
          <p:cNvSpPr/>
          <p:nvPr/>
        </p:nvSpPr>
        <p:spPr>
          <a:xfrm>
            <a:off x="5074920" y="18745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dc2626"/>
                </a:solidFill>
                <a:effectLst/>
                <a:uFillTx/>
                <a:latin typeface="Aptos Display"/>
                <a:ea typeface="Aptos Display"/>
              </a:rPr>
              <a:t>High Congestion Likely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9"/>
          <p:cNvSpPr/>
          <p:nvPr/>
        </p:nvSpPr>
        <p:spPr>
          <a:xfrm>
            <a:off x="8503920" y="123444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6b7280"/>
                </a:solidFill>
                <a:effectLst/>
                <a:uFillTx/>
                <a:latin typeface="Aptos Display"/>
                <a:ea typeface="Aptos Display"/>
              </a:rPr>
              <a:t>Recommended actions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0"/>
          <p:cNvSpPr/>
          <p:nvPr/>
        </p:nvSpPr>
        <p:spPr>
          <a:xfrm>
            <a:off x="8503920" y="1554480"/>
            <a:ext cx="32457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lang="en-US" sz="12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Schedule extra parking attendants (7–10 AM) Enable overflow lot + signage by 6:30 AM Push guest advisory (arrive before 7:30 AM)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8" name="Chart 0"/>
          <p:cNvGraphicFramePr/>
          <p:nvPr/>
        </p:nvGraphicFramePr>
        <p:xfrm>
          <a:off x="960120" y="2743200"/>
          <a:ext cx="7452000" cy="3245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9" name="Text 11"/>
          <p:cNvSpPr/>
          <p:nvPr/>
        </p:nvSpPr>
        <p:spPr>
          <a:xfrm>
            <a:off x="1371600" y="5989320"/>
            <a:ext cx="7452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Forecast trend (illustrative)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2"/>
          <p:cNvSpPr/>
          <p:nvPr/>
        </p:nvSpPr>
        <p:spPr>
          <a:xfrm>
            <a:off x="0" y="6702480"/>
            <a:ext cx="12191400" cy="1551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3"/>
          <p:cNvSpPr/>
          <p:nvPr/>
        </p:nvSpPr>
        <p:spPr>
          <a:xfrm>
            <a:off x="594360" y="6711840"/>
            <a:ext cx="109724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Aptos"/>
                <a:ea typeface="Aptos"/>
              </a:rPr>
              <a:t>CS-6580 Data Science Capstone • Weber State University • Spring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0" y="0"/>
            <a:ext cx="12191400" cy="685440"/>
          </a:xfrm>
          <a:prstGeom prst="rect">
            <a:avLst/>
          </a:prstGeom>
          <a:solidFill>
            <a:srgbClr val="4b2682"/>
          </a:solidFill>
          <a:ln w="12700">
            <a:solidFill>
              <a:srgbClr val="4b26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594360" y="15552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Risk management: we have a kill switch and a backup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"/>
          <p:cNvSpPr/>
          <p:nvPr/>
        </p:nvSpPr>
        <p:spPr>
          <a:xfrm>
            <a:off x="685800" y="1097280"/>
            <a:ext cx="6400440" cy="5074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50760" dir="2700000" dist="18837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"/>
          <p:cNvSpPr/>
          <p:nvPr/>
        </p:nvSpPr>
        <p:spPr>
          <a:xfrm>
            <a:off x="960120" y="1298520"/>
            <a:ext cx="5851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6b7280"/>
                </a:solidFill>
                <a:effectLst/>
                <a:uFillTx/>
                <a:latin typeface="Aptos Display"/>
                <a:ea typeface="Aptos Display"/>
              </a:rPr>
              <a:t>Biggest technical blocker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4"/>
          <p:cNvSpPr/>
          <p:nvPr/>
        </p:nvSpPr>
        <p:spPr>
          <a:xfrm>
            <a:off x="960120" y="1572840"/>
            <a:ext cx="5851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Aligning traffic history with weather forecasts at hourly resolution (missing data, station outages)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5"/>
          <p:cNvSpPr/>
          <p:nvPr/>
        </p:nvSpPr>
        <p:spPr>
          <a:xfrm>
            <a:off x="960120" y="2286000"/>
            <a:ext cx="5851800" cy="127980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6"/>
          <p:cNvSpPr/>
          <p:nvPr/>
        </p:nvSpPr>
        <p:spPr>
          <a:xfrm>
            <a:off x="1143000" y="2468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Mitigations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7"/>
          <p:cNvSpPr/>
          <p:nvPr/>
        </p:nvSpPr>
        <p:spPr>
          <a:xfrm>
            <a:off x="1143000" y="2761560"/>
            <a:ext cx="5531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Aptos"/>
                <a:ea typeface="Aptos"/>
              </a:rPr>
              <a:t>Build a robust hourly “time index” and fill gaps with safe defaults. Track data freshness; flag days with unreliable sensors. Start with a baseline (last-year / moving average) for sanity checks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8"/>
          <p:cNvSpPr/>
          <p:nvPr/>
        </p:nvSpPr>
        <p:spPr>
          <a:xfrm>
            <a:off x="960120" y="3794760"/>
            <a:ext cx="5851800" cy="214848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9"/>
          <p:cNvSpPr/>
          <p:nvPr/>
        </p:nvSpPr>
        <p:spPr>
          <a:xfrm>
            <a:off x="1143000" y="397764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Plan B within the same idea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0"/>
          <p:cNvSpPr/>
          <p:nvPr/>
        </p:nvSpPr>
        <p:spPr>
          <a:xfrm>
            <a:off x="1143000" y="43160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e5e7eb"/>
                </a:solidFill>
                <a:effectLst/>
                <a:uFillTx/>
                <a:latin typeface="Aptos"/>
                <a:ea typeface="Aptos"/>
              </a:rPr>
              <a:t>If exact volume is noisy → pivot to a binary classifier: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1"/>
          <p:cNvSpPr/>
          <p:nvPr/>
        </p:nvSpPr>
        <p:spPr>
          <a:xfrm>
            <a:off x="1143000" y="45903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“High congestion” vs “Normal” using weather + calendar only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2"/>
          <p:cNvSpPr/>
          <p:nvPr/>
        </p:nvSpPr>
        <p:spPr>
          <a:xfrm>
            <a:off x="1143000" y="495612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d1d5db"/>
                </a:solidFill>
                <a:effectLst/>
                <a:uFillTx/>
                <a:latin typeface="Aptos"/>
                <a:ea typeface="Aptos"/>
              </a:rPr>
              <a:t>Still supports the same actions: staffing + parking + guest messaging.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3"/>
          <p:cNvSpPr/>
          <p:nvPr/>
        </p:nvSpPr>
        <p:spPr>
          <a:xfrm>
            <a:off x="7360920" y="1097280"/>
            <a:ext cx="4617360" cy="5074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50760" dir="2700000" dist="18837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4"/>
          <p:cNvSpPr/>
          <p:nvPr/>
        </p:nvSpPr>
        <p:spPr>
          <a:xfrm>
            <a:off x="7635240" y="129852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6b7280"/>
                </a:solidFill>
                <a:effectLst/>
                <a:uFillTx/>
                <a:latin typeface="Aptos Display"/>
                <a:ea typeface="Aptos Display"/>
              </a:rPr>
              <a:t>Backup project (Plan C)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5"/>
          <p:cNvSpPr/>
          <p:nvPr/>
        </p:nvSpPr>
        <p:spPr>
          <a:xfrm>
            <a:off x="7635240" y="1600200"/>
            <a:ext cx="4205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Great Salt Lake “Dust Warnings” for Ogden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6"/>
          <p:cNvSpPr/>
          <p:nvPr/>
        </p:nvSpPr>
        <p:spPr>
          <a:xfrm>
            <a:off x="7635240" y="2194560"/>
            <a:ext cx="42058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lang="en-US" sz="1300" b="0" u="none" strike="noStrike">
                <a:solidFill>
                  <a:srgbClr val="374151"/>
                </a:solidFill>
                <a:effectLst/>
                <a:uFillTx/>
                <a:latin typeface="Aptos"/>
                <a:ea typeface="Aptos"/>
              </a:rPr>
              <a:t>Predict hazardous dust days using lake level + wind + PM sensors. Stakeholder: local public health / city ops. Same end-to-end skills: joinable public data + decision thresholds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7"/>
          <p:cNvSpPr/>
          <p:nvPr/>
        </p:nvSpPr>
        <p:spPr>
          <a:xfrm>
            <a:off x="7635240" y="3794760"/>
            <a:ext cx="4205880" cy="1965600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12700">
            <a:solidFill>
              <a:srgbClr val="fde6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8"/>
          <p:cNvSpPr/>
          <p:nvPr/>
        </p:nvSpPr>
        <p:spPr>
          <a:xfrm>
            <a:off x="7863840" y="397764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92400e"/>
                </a:solidFill>
                <a:effectLst/>
                <a:uFillTx/>
                <a:latin typeface="Aptos Display"/>
                <a:ea typeface="Aptos Display"/>
              </a:rPr>
              <a:t>Why this matters for feasibility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9"/>
          <p:cNvSpPr/>
          <p:nvPr/>
        </p:nvSpPr>
        <p:spPr>
          <a:xfrm>
            <a:off x="7863840" y="4316040"/>
            <a:ext cx="3748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92400e"/>
                </a:solidFill>
                <a:effectLst/>
                <a:uFillTx/>
                <a:latin typeface="Aptos"/>
                <a:ea typeface="Aptos"/>
              </a:rPr>
              <a:t>We won’t get stuck: if one data source blocks us, we still deliver a working predictive product.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0"/>
          <p:cNvSpPr/>
          <p:nvPr/>
        </p:nvSpPr>
        <p:spPr>
          <a:xfrm>
            <a:off x="0" y="6702480"/>
            <a:ext cx="12191400" cy="1551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1"/>
          <p:cNvSpPr/>
          <p:nvPr/>
        </p:nvSpPr>
        <p:spPr>
          <a:xfrm>
            <a:off x="594360" y="6711840"/>
            <a:ext cx="109724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Aptos"/>
                <a:ea typeface="Aptos"/>
              </a:rPr>
              <a:t>CS-6580 Data Science Capstone • Weber State University • Spring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0"/>
          <p:cNvSpPr/>
          <p:nvPr/>
        </p:nvSpPr>
        <p:spPr>
          <a:xfrm>
            <a:off x="0" y="0"/>
            <a:ext cx="12191400" cy="685440"/>
          </a:xfrm>
          <a:prstGeom prst="rect">
            <a:avLst/>
          </a:prstGeom>
          <a:solidFill>
            <a:srgbClr val="4b2682"/>
          </a:solidFill>
          <a:ln w="12700">
            <a:solidFill>
              <a:srgbClr val="4b26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594360" y="15552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Roadmap (12 weeks) + what we need next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"/>
          <p:cNvSpPr/>
          <p:nvPr/>
        </p:nvSpPr>
        <p:spPr>
          <a:xfrm>
            <a:off x="685800" y="1097280"/>
            <a:ext cx="11292480" cy="3062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50760" dir="2700000" dist="18837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960120" y="1298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6b7280"/>
                </a:solidFill>
                <a:effectLst/>
                <a:uFillTx/>
                <a:latin typeface="Aptos Display"/>
                <a:ea typeface="Aptos Display"/>
              </a:rPr>
              <a:t>Course sprint plan (high level)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4"/>
          <p:cNvSpPr/>
          <p:nvPr/>
        </p:nvSpPr>
        <p:spPr>
          <a:xfrm>
            <a:off x="960120" y="1737360"/>
            <a:ext cx="2377080" cy="50256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960120" y="18655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d4ed8"/>
                </a:solidFill>
                <a:effectLst/>
                <a:uFillTx/>
                <a:latin typeface="Aptos"/>
                <a:ea typeface="Aptos"/>
              </a:rPr>
              <a:t>Feasibility &amp; Design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6"/>
          <p:cNvSpPr/>
          <p:nvPr/>
        </p:nvSpPr>
        <p:spPr>
          <a:xfrm>
            <a:off x="3474720" y="1737360"/>
            <a:ext cx="2377080" cy="50256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7"/>
          <p:cNvSpPr/>
          <p:nvPr/>
        </p:nvSpPr>
        <p:spPr>
          <a:xfrm>
            <a:off x="3474720" y="18655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d4ed8"/>
                </a:solidFill>
                <a:effectLst/>
                <a:uFillTx/>
                <a:latin typeface="Aptos"/>
                <a:ea typeface="Aptos"/>
              </a:rPr>
              <a:t>Data Pipeline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8"/>
          <p:cNvSpPr/>
          <p:nvPr/>
        </p:nvSpPr>
        <p:spPr>
          <a:xfrm>
            <a:off x="5989320" y="1737360"/>
            <a:ext cx="2377080" cy="50256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9"/>
          <p:cNvSpPr/>
          <p:nvPr/>
        </p:nvSpPr>
        <p:spPr>
          <a:xfrm>
            <a:off x="5989320" y="18655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d4ed8"/>
                </a:solidFill>
                <a:effectLst/>
                <a:uFillTx/>
                <a:latin typeface="Aptos"/>
                <a:ea typeface="Aptos"/>
              </a:rPr>
              <a:t>EDA + Baseline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0"/>
          <p:cNvSpPr/>
          <p:nvPr/>
        </p:nvSpPr>
        <p:spPr>
          <a:xfrm>
            <a:off x="8503920" y="1737360"/>
            <a:ext cx="2377080" cy="50256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1"/>
          <p:cNvSpPr/>
          <p:nvPr/>
        </p:nvSpPr>
        <p:spPr>
          <a:xfrm>
            <a:off x="8503920" y="18655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d4ed8"/>
                </a:solidFill>
                <a:effectLst/>
                <a:uFillTx/>
                <a:latin typeface="Aptos"/>
                <a:ea typeface="Aptos"/>
              </a:rPr>
              <a:t>Model Refinement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2"/>
          <p:cNvSpPr/>
          <p:nvPr/>
        </p:nvSpPr>
        <p:spPr>
          <a:xfrm>
            <a:off x="960120" y="2423160"/>
            <a:ext cx="2377080" cy="383760"/>
          </a:xfrm>
          <a:prstGeom prst="roundRect">
            <a:avLst>
              <a:gd name="adj" fmla="val 16667"/>
            </a:avLst>
          </a:prstGeom>
          <a:solidFill>
            <a:srgbClr val="c7d2fe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3"/>
          <p:cNvSpPr/>
          <p:nvPr/>
        </p:nvSpPr>
        <p:spPr>
          <a:xfrm>
            <a:off x="960120" y="251460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Jan 22–Feb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4"/>
          <p:cNvSpPr/>
          <p:nvPr/>
        </p:nvSpPr>
        <p:spPr>
          <a:xfrm>
            <a:off x="3474720" y="2423160"/>
            <a:ext cx="2377080" cy="383760"/>
          </a:xfrm>
          <a:prstGeom prst="roundRect">
            <a:avLst>
              <a:gd name="adj" fmla="val 16667"/>
            </a:avLst>
          </a:prstGeom>
          <a:solidFill>
            <a:srgbClr val="bbf7d0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5"/>
          <p:cNvSpPr/>
          <p:nvPr/>
        </p:nvSpPr>
        <p:spPr>
          <a:xfrm>
            <a:off x="3474720" y="251460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Feb 5–Feb 18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6"/>
          <p:cNvSpPr/>
          <p:nvPr/>
        </p:nvSpPr>
        <p:spPr>
          <a:xfrm>
            <a:off x="5989320" y="2423160"/>
            <a:ext cx="2377080" cy="383760"/>
          </a:xfrm>
          <a:prstGeom prst="roundRect">
            <a:avLst>
              <a:gd name="adj" fmla="val 16667"/>
            </a:avLst>
          </a:prstGeom>
          <a:solidFill>
            <a:srgbClr val="fde68a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7"/>
          <p:cNvSpPr/>
          <p:nvPr/>
        </p:nvSpPr>
        <p:spPr>
          <a:xfrm>
            <a:off x="5989320" y="251460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Feb 19–Mar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8"/>
          <p:cNvSpPr/>
          <p:nvPr/>
        </p:nvSpPr>
        <p:spPr>
          <a:xfrm>
            <a:off x="8503920" y="2423160"/>
            <a:ext cx="2377080" cy="383760"/>
          </a:xfrm>
          <a:prstGeom prst="roundRect">
            <a:avLst>
              <a:gd name="adj" fmla="val 16667"/>
            </a:avLst>
          </a:prstGeom>
          <a:solidFill>
            <a:srgbClr val="fbcfe8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9"/>
          <p:cNvSpPr/>
          <p:nvPr/>
        </p:nvSpPr>
        <p:spPr>
          <a:xfrm>
            <a:off x="8503920" y="251460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Mar 5–Mar 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0"/>
          <p:cNvSpPr/>
          <p:nvPr/>
        </p:nvSpPr>
        <p:spPr>
          <a:xfrm>
            <a:off x="960120" y="292608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Then: UI/UX + Deployment (localhost) → QA + Final boardroom presentation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21"/>
          <p:cNvSpPr/>
          <p:nvPr/>
        </p:nvSpPr>
        <p:spPr>
          <a:xfrm>
            <a:off x="685800" y="4389120"/>
            <a:ext cx="6400440" cy="182844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2"/>
          <p:cNvSpPr/>
          <p:nvPr/>
        </p:nvSpPr>
        <p:spPr>
          <a:xfrm>
            <a:off x="960120" y="4590360"/>
            <a:ext cx="5851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Next 2 weeks (deliverables)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3"/>
          <p:cNvSpPr/>
          <p:nvPr/>
        </p:nvSpPr>
        <p:spPr>
          <a:xfrm>
            <a:off x="960120" y="4919400"/>
            <a:ext cx="58518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200" b="0" u="none" strike="noStrike">
                <a:solidFill>
                  <a:srgbClr val="e5e7eb"/>
                </a:solidFill>
                <a:effectLst/>
                <a:uFillTx/>
                <a:latin typeface="Aptos"/>
                <a:ea typeface="Aptos"/>
              </a:rPr>
              <a:t>Download sample CCS hourly volumes for the target station and build a clean hourly index. Pull NOAA LCD data for the nearest station; align timestamps and fill gaps. Stand up a localhost dashboard shell + baseline forecast (moving avg / last-year)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4"/>
          <p:cNvSpPr/>
          <p:nvPr/>
        </p:nvSpPr>
        <p:spPr>
          <a:xfrm>
            <a:off x="7360920" y="4389120"/>
            <a:ext cx="4617360" cy="182844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c7d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5"/>
          <p:cNvSpPr/>
          <p:nvPr/>
        </p:nvSpPr>
        <p:spPr>
          <a:xfrm>
            <a:off x="7635240" y="459036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d4ed8"/>
                </a:solidFill>
                <a:effectLst/>
                <a:uFillTx/>
                <a:latin typeface="Aptos Display"/>
                <a:ea typeface="Aptos Display"/>
              </a:rPr>
              <a:t>Ask (from a stakeholder)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6"/>
          <p:cNvSpPr/>
          <p:nvPr/>
        </p:nvSpPr>
        <p:spPr>
          <a:xfrm>
            <a:off x="7635240" y="4919400"/>
            <a:ext cx="41601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1) Confirm what “high congestion” means operationally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2) Confirm which traffic station best represents arrivals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3) Provide 2–3 example days when operations struggled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7"/>
          <p:cNvSpPr/>
          <p:nvPr/>
        </p:nvSpPr>
        <p:spPr>
          <a:xfrm>
            <a:off x="0" y="6702480"/>
            <a:ext cx="12191400" cy="1551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8"/>
          <p:cNvSpPr/>
          <p:nvPr/>
        </p:nvSpPr>
        <p:spPr>
          <a:xfrm>
            <a:off x="594360" y="6711840"/>
            <a:ext cx="109724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Aptos"/>
                <a:ea typeface="Aptos"/>
              </a:rPr>
              <a:t>CS-6580 Data Science Capstone • Weber State University • Spring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Application>LibreOffice/25.8.4.2$Windows_X86_64 LibreOffice_project/290daaa01b999472f0c7a3890eb6a550fd74c6df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2026-01-22T17:07:32Z</dcterms:created>
  <dc:creator>The Wildcats (CS-6580)</dc:creator>
  <dc:description/>
  <dc:language>en-US</dc:language>
  <cp:lastModifiedBy/>
  <dcterms:modified xsi:type="dcterms:W3CDTF">2026-01-22T10:55:01Z</dcterms:modified>
  <cp:revision>10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